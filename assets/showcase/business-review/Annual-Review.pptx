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 30 秒：先讲翻倍结果，再讲怎么做到的。全程控制在 15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 Q4 单季占全年 1/3 以上：旺季打法已被验证，可以复制。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逐条和对应负责人确认资源到位时间，会后发会议纪要。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 CEO 年度信金句收尾，把讨论引向 2026 预算分配。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GROWTH REVIEW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 年度增长汇报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增长团队 · 2026.01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内部资料 · 请勿外传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92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292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69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69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2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02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92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292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到 1，再从 1 到 10。</a:t>
            </a:r>
            <a:endParaRPr lang="en-US" sz="44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4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4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全年成绩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每一项，都是翻倍。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9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59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3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38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2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02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全年成交总额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3.2</a:t>
            </a:r>
            <a:pPr algn="ctr"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亿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GMV，同比 +217%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eleven 单日突破 4,100 万。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92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292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89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89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7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07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1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18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注册用户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pPr algn="ctr" indent="0" marL="0">
              <a:buNone/>
            </a:pPr>
            <a:r>
              <a:rPr lang="en-US" sz="50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净增 168 万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获客成本下降 46%，留存率上升至 58%。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92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292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89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89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7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07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1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18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5486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季度轨迹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每个季度，都在上一个季度的台阶上。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600" dirty="0"/>
          </a:p>
        </p:txBody>
      </p:sp>
      <p:sp>
        <p:nvSpPr>
          <p:cNvPr id="5" name="anim:wipe"/>
          <p:cNvSpPr/>
          <p:nvPr/>
        </p:nvSpPr>
        <p:spPr>
          <a:xfrm>
            <a:off x="3657600" y="2301088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anim:wipe"/>
          <p:cNvSpPr/>
          <p:nvPr/>
        </p:nvSpPr>
        <p:spPr>
          <a:xfrm>
            <a:off x="3657600" y="2301088"/>
            <a:ext cx="2903422" cy="372161"/>
          </a:xfrm>
          <a:prstGeom prst="rect">
            <a:avLst/>
          </a:prstGeom>
          <a:solidFill>
            <a:srgbClr val="86868B"/>
          </a:solidFill>
          <a:ln/>
        </p:spPr>
      </p:sp>
      <p:sp>
        <p:nvSpPr>
          <p:cNvPr id="7" name="Text 5"/>
          <p:cNvSpPr/>
          <p:nvPr/>
        </p:nvSpPr>
        <p:spPr>
          <a:xfrm>
            <a:off x="6698182" y="2148840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0.52 亿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3172968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600" dirty="0"/>
          </a:p>
        </p:txBody>
      </p:sp>
      <p:sp>
        <p:nvSpPr>
          <p:cNvPr id="9" name="anim:wipe"/>
          <p:cNvSpPr/>
          <p:nvPr/>
        </p:nvSpPr>
        <p:spPr>
          <a:xfrm>
            <a:off x="3657600" y="3325216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anim:wipe"/>
          <p:cNvSpPr/>
          <p:nvPr/>
        </p:nvSpPr>
        <p:spPr>
          <a:xfrm>
            <a:off x="3657600" y="3325216"/>
            <a:ext cx="3796783" cy="372161"/>
          </a:xfrm>
          <a:prstGeom prst="rect">
            <a:avLst/>
          </a:prstGeom>
          <a:solidFill>
            <a:srgbClr val="86868B"/>
          </a:solidFill>
          <a:ln/>
        </p:spPr>
      </p:sp>
      <p:sp>
        <p:nvSpPr>
          <p:cNvPr id="11" name="Text 9"/>
          <p:cNvSpPr/>
          <p:nvPr/>
        </p:nvSpPr>
        <p:spPr>
          <a:xfrm>
            <a:off x="7591543" y="3172968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0.68 亿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4197096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600" dirty="0"/>
          </a:p>
        </p:txBody>
      </p:sp>
      <p:sp>
        <p:nvSpPr>
          <p:cNvPr id="13" name="anim:wipe"/>
          <p:cNvSpPr/>
          <p:nvPr/>
        </p:nvSpPr>
        <p:spPr>
          <a:xfrm>
            <a:off x="3657600" y="4349344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anim:wipe"/>
          <p:cNvSpPr/>
          <p:nvPr/>
        </p:nvSpPr>
        <p:spPr>
          <a:xfrm>
            <a:off x="3657600" y="4349344"/>
            <a:ext cx="4857649" cy="372161"/>
          </a:xfrm>
          <a:prstGeom prst="rect">
            <a:avLst/>
          </a:prstGeom>
          <a:solidFill>
            <a:srgbClr val="86868B"/>
          </a:solidFill>
          <a:ln/>
        </p:spPr>
      </p:sp>
      <p:sp>
        <p:nvSpPr>
          <p:cNvPr id="15" name="Text 13"/>
          <p:cNvSpPr/>
          <p:nvPr/>
        </p:nvSpPr>
        <p:spPr>
          <a:xfrm>
            <a:off x="8652409" y="4197096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0.87 亿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221224"/>
            <a:ext cx="24688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600" dirty="0"/>
          </a:p>
        </p:txBody>
      </p:sp>
      <p:sp>
        <p:nvSpPr>
          <p:cNvPr id="17" name="anim:wipe"/>
          <p:cNvSpPr/>
          <p:nvPr/>
        </p:nvSpPr>
        <p:spPr>
          <a:xfrm>
            <a:off x="3657600" y="5373472"/>
            <a:ext cx="6309360" cy="37216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anim:wipe"/>
          <p:cNvSpPr/>
          <p:nvPr/>
        </p:nvSpPr>
        <p:spPr>
          <a:xfrm>
            <a:off x="3657600" y="5373472"/>
            <a:ext cx="6309360" cy="372161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9" name="Text 17"/>
          <p:cNvSpPr/>
          <p:nvPr/>
        </p:nvSpPr>
        <p:spPr>
          <a:xfrm>
            <a:off x="10104120" y="5221224"/>
            <a:ext cx="1737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1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1.13 亿</a:t>
            </a:r>
            <a:endParaRPr lang="en-US" sz="18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9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289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12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12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9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09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9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09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92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92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9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309" fill="hold" decel="8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9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309" fill="hold" decel="8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92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92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9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309" fill="hold" decel="8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9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309" fill="hold" decel="8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92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92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9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309" fill="hold" decel="8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9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309" fill="hold" decel="8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292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292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7" grpId="0"/>
      <p:bldP spid="8" grpId="0"/>
      <p:bldP spid="11" grpId="0"/>
      <p:bldP spid="12" grpId="0"/>
      <p:bldP spid="15" grpId="0"/>
      <p:bldP spid="16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三大增长引擎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内容种草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小红书 + 抖音双平台 1,200 篇爆文，带来 41% 新客。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私域复购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万企业微信好友，复购率从 19% 提升至 37%。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出海试水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东南亚三国上线，首年贡献 GMV 2,800 万。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12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12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2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02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2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02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2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02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94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394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94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394" fill="hold" decel="8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94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394" fill="hold" decel="8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1.0亿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3.2亿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投放驱动，费用率 42%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复购率 19%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单一国内渠道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内容驱动，费用率 24%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复购率 37%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 + 出海双曲线</a:t>
            </a:r>
            <a:endParaRPr lang="en-US" sz="1600" dirty="0"/>
          </a:p>
        </p:txBody>
      </p:sp>
      <p:sp>
        <p:nvSpPr>
          <p:cNvPr id="8" name="anim:wipe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D2D2D7"/>
          </a:solidFill>
          <a:ln/>
        </p:spPr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92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292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92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292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32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328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328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32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32" fill="hold" decel="8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32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32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7048" y="192024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今年最正确的决定，是把预算从投放搬到了内容。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44805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CEO 年度信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2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2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16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16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三条主线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把翻倍，变成习惯。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9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59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3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38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2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02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增长主线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产品线扩展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Q2 上新入门系列，覆盖百元价格带。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渠道纵深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线下体验店 5 城 10 店，线上线下库存打通。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出海加速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 GMV 目标 1.2 亿，组建本地化团队。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12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12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2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02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2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02" fill="hold" decel="8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2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02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94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394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94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394" fill="hold" decel="8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94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394" fill="hold" decel="8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54864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节奏表</a:t>
            </a:r>
            <a:endParaRPr lang="en-US" sz="3400" dirty="0"/>
          </a:p>
        </p:txBody>
      </p:sp>
      <p:sp>
        <p:nvSpPr>
          <p:cNvPr id="4" name="anim:wipe"/>
          <p:cNvSpPr/>
          <p:nvPr/>
        </p:nvSpPr>
        <p:spPr>
          <a:xfrm>
            <a:off x="1463040" y="3291840"/>
            <a:ext cx="9262872" cy="10973"/>
          </a:xfrm>
          <a:prstGeom prst="rect">
            <a:avLst/>
          </a:prstGeom>
          <a:solidFill>
            <a:srgbClr val="D2D2D7"/>
          </a:solidFill>
          <a:ln/>
        </p:spPr>
      </p:sp>
      <p:sp>
        <p:nvSpPr>
          <p:cNvPr id="5" name="Shape 3"/>
          <p:cNvSpPr/>
          <p:nvPr/>
        </p:nvSpPr>
        <p:spPr>
          <a:xfrm>
            <a:off x="2547747" y="3224174"/>
            <a:ext cx="146304" cy="146304"/>
          </a:xfrm>
          <a:prstGeom prst="ellipse">
            <a:avLst/>
          </a:prstGeom>
          <a:solidFill>
            <a:srgbClr val="1D1D1F"/>
          </a:solidFill>
          <a:ln/>
        </p:spPr>
      </p:sp>
      <p:sp>
        <p:nvSpPr>
          <p:cNvPr id="6" name="Text 4"/>
          <p:cNvSpPr/>
          <p:nvPr/>
        </p:nvSpPr>
        <p:spPr>
          <a:xfrm>
            <a:off x="1615059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15059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新品立项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15059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入门系列定稿，供应链锁价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863465" y="3224174"/>
            <a:ext cx="146304" cy="146304"/>
          </a:xfrm>
          <a:prstGeom prst="ellipse">
            <a:avLst/>
          </a:prstGeom>
          <a:solidFill>
            <a:srgbClr val="1D1D1F"/>
          </a:solidFill>
          <a:ln/>
        </p:spPr>
      </p:sp>
      <p:sp>
        <p:nvSpPr>
          <p:cNvPr id="10" name="Text 8"/>
          <p:cNvSpPr/>
          <p:nvPr/>
        </p:nvSpPr>
        <p:spPr>
          <a:xfrm>
            <a:off x="3930777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930777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上市开卖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0777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入门系列上线 5 大平台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79183" y="3224174"/>
            <a:ext cx="146304" cy="146304"/>
          </a:xfrm>
          <a:prstGeom prst="ellipse">
            <a:avLst/>
          </a:prstGeom>
          <a:solidFill>
            <a:srgbClr val="1D1D1F"/>
          </a:solidFill>
          <a:ln/>
        </p:spPr>
      </p:sp>
      <p:sp>
        <p:nvSpPr>
          <p:cNvPr id="14" name="Text 12"/>
          <p:cNvSpPr/>
          <p:nvPr/>
        </p:nvSpPr>
        <p:spPr>
          <a:xfrm>
            <a:off x="6246495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46495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体验店落地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46495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城 10 店，库存全渠道打通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467469" y="3196742"/>
            <a:ext cx="201168" cy="201168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8" name="Text 16"/>
          <p:cNvSpPr/>
          <p:nvPr/>
        </p:nvSpPr>
        <p:spPr>
          <a:xfrm>
            <a:off x="8562213" y="24231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562213" y="36118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出海冲刺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62213" y="4114800"/>
            <a:ext cx="2011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东南亚 GMV 1.2 亿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9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289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12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12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97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297" fill="hold" decel="8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97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297" fill="hold" decel="8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97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297" fill="hold" decel="8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97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297" fill="hold" decel="8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83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72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97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297" fill="hold" decel="8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97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297" fill="hold" decel="8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97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297" fill="hold" decel="8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97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297" fill="hold" decel="8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9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359" fill="hold" decel="8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59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359" fill="hold" decel="8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9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359" fill="hold" decel="8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9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359" fill="hold" decel="8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  <p:bldP spid="10" grpId="0"/>
      <p:bldP spid="14" grpId="0"/>
      <p:bldP spid="18" grpId="0"/>
      <p:bldP spid="7" grpId="0"/>
      <p:bldP spid="11" grpId="0"/>
      <p:bldP spid="15" grpId="0"/>
      <p:bldP spid="19" grpId="0"/>
      <p:bldP spid="8" grpId="0"/>
      <p:bldP spid="12" grpId="0"/>
      <p:bldP spid="16" grpId="0"/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增长，才刚刚开始。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2026，一起把不可能变成日常。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Growth Review · 2026.01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4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48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48" fill="hold" decel="800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2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02" fill="hold" decel="800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92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292" fill="hold" decel="8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 年度增长汇报（商务汇报风示例）</dc:title>
  <dc:subject>2025 年度增长汇报（商务汇报风示例）</dc:subject>
  <dc:creator>apple-keynote-ppt</dc:creator>
  <cp:lastModifiedBy>apple-keynote-ppt</cp:lastModifiedBy>
  <cp:revision>1</cp:revision>
  <dcterms:created xsi:type="dcterms:W3CDTF">2026-09-12T21:13:30Z</dcterms:created>
  <dcterms:modified xsi:type="dcterms:W3CDTF">2026-09-12T21:13:30Z</dcterms:modified>
</cp:coreProperties>
</file>