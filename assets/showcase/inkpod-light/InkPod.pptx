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 2026.10.27 上午 9 点全渠道开售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82880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300" kern="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INKPOD SPECIAL EVENT</a:t>
            </a:r>
            <a:endParaRPr lang="en-US" sz="1600" dirty="0"/>
          </a:p>
        </p:txBody>
      </p:sp>
      <p:sp>
        <p:nvSpPr>
          <p:cNvPr id="3" name="grad:e1"/>
          <p:cNvSpPr/>
          <p:nvPr/>
        </p:nvSpPr>
        <p:spPr>
          <a:xfrm>
            <a:off x="612648" y="2240280"/>
            <a:ext cx="10972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spc="100" kern="0" dirty="0">
                <a:gradFill>
                  <a:gsLst>
                    <a:gs pos="0">
                      <a:srgbClr val="8B5CF6"/>
                    </a:gs>
                    <a:gs pos="35000">
                      <a:srgbClr val="4F8DEB"/>
                    </a:gs>
                    <a:gs pos="70000">
                      <a:srgbClr val="46C7C7"/>
                    </a:gs>
                    <a:gs pos="100000">
                      <a:srgbClr val="58C878"/>
                    </a:gs>
                  </a:gsLst>
                  <a:lin ang="0" scaled="1"/>
                </a:gradFill>
                <a:latin typeface="Segoe UI" pitchFamily="34" charset="0"/>
                <a:ea typeface="Segoe UI" pitchFamily="34" charset="-122"/>
                <a:cs typeface="Segoe UI" pitchFamily="34" charset="-120"/>
              </a:rPr>
              <a:t>InkPod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1527048" y="4069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纸，学会了思考。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0" y="598932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2026.10.20</a:t>
            </a:r>
            <a:endParaRPr lang="en-US" sz="1500" dirty="0"/>
          </a:p>
        </p:txBody>
      </p:sp>
    </p:spTree>
  </p:cSld>
  <p:clrMapOvr>
    <a:masterClrMapping/>
  </p:clrMapOvr>
  <p:transition xmlns:p14="http://schemas.microsoft.com/office/powerpoint/2010/main" spd="slow" p14:dur="7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94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94" fill="hold" decel="80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9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750" fill="hold" decel="60000"/>
                                        <p:tgtEl>
                                          <p:spTgt spid="3"/>
                                        </p:tgtEl>
                                      </p:cBhvr>
                                      <p:from x="104000" y="10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14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614" fill="hold" decel="8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7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94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94" fill="hold" decel="8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98448" y="0"/>
            <a:ext cx="9601200" cy="6858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54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写作，不该等待屏幕。</a:t>
            </a:r>
            <a:endParaRPr lang="en-US" sz="5400" dirty="0"/>
          </a:p>
        </p:txBody>
      </p:sp>
    </p:spTree>
  </p:cSld>
  <p:clrMapOvr>
    <a:masterClrMapping/>
  </p:clrMapOvr>
  <p:transition xmlns:p14="http://schemas.microsoft.com/office/powerpoint/2010/main" spd="slow" p14:dur="7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228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1228" fill="hold" decel="80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1234440"/>
            <a:ext cx="45720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1005840" y="2880360"/>
            <a:ext cx="9601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005840" y="41605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把屏幕，做成纸的样子。</a:t>
            </a:r>
            <a:endParaRPr lang="en-US" sz="2000" dirty="0"/>
          </a:p>
        </p:txBody>
      </p:sp>
    </p:spTree>
  </p:cSld>
  <p:clrMapOvr>
    <a:masterClrMapping/>
  </p:clrMapOvr>
  <p:transition xmlns:p14="http://schemas.microsoft.com/office/powerpoint/2010/main" spd="slow" p14:dur="7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29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" dur="729" fill="hold" decel="60000"/>
                                        <p:tgtEl>
                                          <p:spTgt spid="2"/>
                                        </p:tgtEl>
                                      </p:cBhvr>
                                      <p:from x="104000" y="10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9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87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87" fill="hold" decel="8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14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614" fill="hold" decel="8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228600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一块会思考的纸。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1527048" y="39776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英寸墨水屏 · 300ppi · 类纸蚀刻工艺。</a:t>
            </a:r>
            <a:endParaRPr lang="en-US" sz="2000" dirty="0"/>
          </a:p>
        </p:txBody>
      </p:sp>
    </p:spTree>
  </p:cSld>
  <p:clrMapOvr>
    <a:masterClrMapping/>
  </p:clrMapOvr>
  <p:transition xmlns:p14="http://schemas.microsoft.com/office/powerpoint/2010/main" spd="slow" p14:dur="7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6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1006" fill="hold" decel="80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9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86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860" fill="hold" decel="8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05156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300" kern="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墨水屏响应引擎</a:t>
            </a:r>
            <a:endParaRPr lang="en-US" sz="1600" dirty="0"/>
          </a:p>
        </p:txBody>
      </p:sp>
      <p:sp>
        <p:nvSpPr>
          <p:cNvPr id="3" name="grad:e2"/>
          <p:cNvSpPr/>
          <p:nvPr/>
        </p:nvSpPr>
        <p:spPr>
          <a:xfrm>
            <a:off x="612648" y="1554480"/>
            <a:ext cx="109728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0" b="1" dirty="0">
                <a:gradFill>
                  <a:gsLst>
                    <a:gs pos="0">
                      <a:srgbClr val="8B5CF6"/>
                    </a:gs>
                    <a:gs pos="35000">
                      <a:srgbClr val="4F8DEB"/>
                    </a:gs>
                    <a:gs pos="70000">
                      <a:srgbClr val="46C7C7"/>
                    </a:gs>
                    <a:gs pos="100000">
                      <a:srgbClr val="58C878"/>
                    </a:gs>
                  </a:gsLst>
                  <a:lin ang="0" scaled="1"/>
                </a:gradFill>
                <a:latin typeface="Segoe UI" pitchFamily="34" charset="0"/>
                <a:ea typeface="Segoe UI" pitchFamily="34" charset="-122"/>
                <a:cs typeface="Segoe UI" pitchFamily="34" charset="-120"/>
              </a:rPr>
              <a:t>0ms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612648" y="3794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落笔延迟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527048" y="452628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笔尖触达的瞬间，字迹已经在纸上。</a:t>
            </a:r>
            <a:endParaRPr lang="en-US" sz="1700" dirty="0"/>
          </a:p>
        </p:txBody>
      </p:sp>
    </p:spTree>
  </p:cSld>
  <p:clrMapOvr>
    <a:masterClrMapping/>
  </p:clrMapOvr>
  <p:transition xmlns:p14="http://schemas.microsoft.com/office/powerpoint/2010/main" spd="slow" p14:dur="7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94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94" fill="hold" decel="80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9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91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791" fill="hold" decel="60000"/>
                                        <p:tgtEl>
                                          <p:spTgt spid="3"/>
                                        </p:tgtEl>
                                      </p:cBhvr>
                                      <p:from x="104000" y="10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25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625" fill="hold" decel="8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7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46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646" fill="hold" decel="8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86868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三重纸感科技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1005840" y="2651760"/>
            <a:ext cx="31790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类纸蚀刻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1005840" y="3246120"/>
            <a:ext cx="317906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屏幕表面微米级蚀刻，摩擦系数接近道林纸。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04944" y="2651760"/>
            <a:ext cx="31790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4096 压感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4504944" y="3246120"/>
            <a:ext cx="317906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笔锋粗细随力度自然变化，侧峰也能写出飞白。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004048" y="2651760"/>
            <a:ext cx="31790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零反光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8004048" y="3246120"/>
            <a:ext cx="317906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阳光下可读，深夜护眼，阅读与书写互不打扰。</a:t>
            </a:r>
            <a:endParaRPr lang="en-US" sz="1600" dirty="0"/>
          </a:p>
        </p:txBody>
      </p:sp>
    </p:spTree>
  </p:cSld>
  <p:clrMapOvr>
    <a:masterClrMapping/>
  </p:clrMapOvr>
  <p:transition xmlns:p14="http://schemas.microsoft.com/office/powerpoint/2010/main" spd="slow" p14:dur="7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35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35" fill="hold" decel="80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9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14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14" fill="hold" decel="8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3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14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614" fill="hold" decel="8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27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14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614" fill="hold" decel="8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802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802" fill="hold" decel="8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802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802" fill="hold" decel="80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802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802" fill="hold" decel="8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7" grpId="0"/>
      <p:bldP spid="4" grpId="0"/>
      <p:bldP spid="6" grpId="0"/>
      <p:bldP spid="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05156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300" kern="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续航</a:t>
            </a:r>
            <a:endParaRPr lang="en-US" sz="1600" dirty="0"/>
          </a:p>
        </p:txBody>
      </p:sp>
      <p:sp>
        <p:nvSpPr>
          <p:cNvPr id="3" name="grad:e3"/>
          <p:cNvSpPr/>
          <p:nvPr/>
        </p:nvSpPr>
        <p:spPr>
          <a:xfrm>
            <a:off x="612648" y="1554480"/>
            <a:ext cx="109728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0" b="1" dirty="0">
                <a:gradFill>
                  <a:gsLst>
                    <a:gs pos="0">
                      <a:srgbClr val="8B5CF6"/>
                    </a:gs>
                    <a:gs pos="35000">
                      <a:srgbClr val="4F8DEB"/>
                    </a:gs>
                    <a:gs pos="70000">
                      <a:srgbClr val="46C7C7"/>
                    </a:gs>
                    <a:gs pos="100000">
                      <a:srgbClr val="58C878"/>
                    </a:gs>
                  </a:gsLst>
                  <a:lin ang="0" scaled="1"/>
                </a:gra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pPr algn="ctr" indent="0" marL="0">
              <a:buNone/>
            </a:pPr>
            <a:r>
              <a:rPr lang="en-US" sz="5000" b="1" dirty="0">
                <a:gradFill>
                  <a:gsLst>
                    <a:gs pos="0">
                      <a:srgbClr val="8B5CF6"/>
                    </a:gs>
                    <a:gs pos="35000">
                      <a:srgbClr val="4F8DEB"/>
                    </a:gs>
                    <a:gs pos="70000">
                      <a:srgbClr val="46C7C7"/>
                    </a:gs>
                    <a:gs pos="100000">
                      <a:srgbClr val="58C878"/>
                    </a:gs>
                  </a:gsLst>
                  <a:lin ang="0" scaled="1"/>
                </a:gra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天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612648" y="3794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一次充电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527048" y="452628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从国庆长假写回来，电量还有余。</a:t>
            </a:r>
            <a:endParaRPr lang="en-US" sz="1700" dirty="0"/>
          </a:p>
        </p:txBody>
      </p:sp>
    </p:spTree>
  </p:cSld>
  <p:clrMapOvr>
    <a:masterClrMapping/>
  </p:clrMapOvr>
  <p:transition xmlns:p14="http://schemas.microsoft.com/office/powerpoint/2010/main" spd="slow" p14:dur="7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94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94" fill="hold" decel="80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9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91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791" fill="hold" decel="60000"/>
                                        <p:tgtEl>
                                          <p:spTgt spid="3"/>
                                        </p:tgtEl>
                                      </p:cBhvr>
                                      <p:from x="104000" y="10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25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625" fill="hold" decel="8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7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46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646" fill="hold" decel="8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88720" y="137160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普通平板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611112" y="13716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0071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INKPOD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88720" y="1828800"/>
            <a:ext cx="4389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天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611112" y="18288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天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188720" y="3108960"/>
            <a:ext cx="43891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一天一充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反光刺眼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写字延迟明显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611112" y="3108960"/>
            <a:ext cx="49377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月级续航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类纸无反光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0ms 落笔</a:t>
            </a:r>
            <a:endParaRPr lang="en-US" sz="1600" dirty="0"/>
          </a:p>
        </p:txBody>
      </p:sp>
      <p:sp>
        <p:nvSpPr>
          <p:cNvPr id="8" name="anim:wipe"/>
          <p:cNvSpPr/>
          <p:nvPr/>
        </p:nvSpPr>
        <p:spPr>
          <a:xfrm>
            <a:off x="6094476" y="1554480"/>
            <a:ext cx="7315" cy="3291840"/>
          </a:xfrm>
          <a:prstGeom prst="rect">
            <a:avLst/>
          </a:prstGeom>
          <a:solidFill>
            <a:srgbClr val="D2D2D7"/>
          </a:solidFill>
          <a:ln/>
        </p:spPr>
      </p:sp>
    </p:spTree>
  </p:cSld>
  <p:clrMapOvr>
    <a:masterClrMapping/>
  </p:clrMapOvr>
  <p:transition xmlns:p14="http://schemas.microsoft.com/office/powerpoint/2010/main" spd="slow" p14:dur="7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94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94" fill="hold" decel="80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94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94" fill="hold" decel="8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19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877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23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66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666" fill="hold" decel="8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27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66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666" fill="hold" decel="8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3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877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877" fill="hold" decel="80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877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877" fill="hold" decel="8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/>
      <p:bldP spid="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6858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四款全新配色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05840" y="1737360"/>
            <a:ext cx="2318004" cy="2377440"/>
          </a:xfrm>
          <a:prstGeom prst="roundRect">
            <a:avLst>
              <a:gd name="adj" fmla="val 9862"/>
            </a:avLst>
          </a:prstGeom>
          <a:solidFill>
            <a:srgbClr val="F0EFE9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4343400"/>
            <a:ext cx="23180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星尘白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05840" y="4846320"/>
            <a:ext cx="231800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雪松白机身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25596" y="1737360"/>
            <a:ext cx="2318004" cy="2377440"/>
          </a:xfrm>
          <a:prstGeom prst="roundRect">
            <a:avLst>
              <a:gd name="adj" fmla="val 9862"/>
            </a:avLst>
          </a:prstGeom>
          <a:solidFill>
            <a:srgbClr val="2B2B2D"/>
          </a:solidFill>
          <a:ln/>
        </p:spPr>
      </p:sp>
      <p:sp>
        <p:nvSpPr>
          <p:cNvPr id="7" name="Text 5"/>
          <p:cNvSpPr/>
          <p:nvPr/>
        </p:nvSpPr>
        <p:spPr>
          <a:xfrm>
            <a:off x="3625596" y="4343400"/>
            <a:ext cx="23180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曜石黑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625596" y="4846320"/>
            <a:ext cx="231800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磨砂阳极氧化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45352" y="1737360"/>
            <a:ext cx="2318004" cy="2377440"/>
          </a:xfrm>
          <a:prstGeom prst="roundRect">
            <a:avLst>
              <a:gd name="adj" fmla="val 9862"/>
            </a:avLst>
          </a:prstGeom>
          <a:solidFill>
            <a:srgbClr val="9DB4A0"/>
          </a:solidFill>
          <a:ln/>
        </p:spPr>
      </p:sp>
      <p:sp>
        <p:nvSpPr>
          <p:cNvPr id="10" name="Text 8"/>
          <p:cNvSpPr/>
          <p:nvPr/>
        </p:nvSpPr>
        <p:spPr>
          <a:xfrm>
            <a:off x="6245352" y="4343400"/>
            <a:ext cx="23180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晨雾绿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245352" y="4846320"/>
            <a:ext cx="231800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低饱和灰绿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865108" y="1737360"/>
            <a:ext cx="2318004" cy="2377440"/>
          </a:xfrm>
          <a:prstGeom prst="roundRect">
            <a:avLst>
              <a:gd name="adj" fmla="val 9862"/>
            </a:avLst>
          </a:prstGeom>
          <a:solidFill>
            <a:srgbClr val="D9B8B4"/>
          </a:solidFill>
          <a:ln/>
        </p:spPr>
      </p:sp>
      <p:sp>
        <p:nvSpPr>
          <p:cNvPr id="13" name="Text 11"/>
          <p:cNvSpPr/>
          <p:nvPr/>
        </p:nvSpPr>
        <p:spPr>
          <a:xfrm>
            <a:off x="8865108" y="4343400"/>
            <a:ext cx="23180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暮云粉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865108" y="4846320"/>
            <a:ext cx="231800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暖调浅粉</a:t>
            </a:r>
            <a:endParaRPr lang="en-US" sz="1400" dirty="0"/>
          </a:p>
        </p:txBody>
      </p:sp>
    </p:spTree>
  </p:cSld>
  <p:clrMapOvr>
    <a:masterClrMapping/>
  </p:clrMapOvr>
  <p:transition xmlns:p14="http://schemas.microsoft.com/office/powerpoint/2010/main" spd="slow" p14:dur="7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25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25" fill="hold" decel="80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9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822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822" fill="hold" decel="60000"/>
                                        <p:tgtEl>
                                          <p:spTgt spid="3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3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822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6" dur="822" fill="hold" decel="60000"/>
                                        <p:tgtEl>
                                          <p:spTgt spid="6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27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822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0" dur="822" fill="hold" decel="60000"/>
                                        <p:tgtEl>
                                          <p:spTgt spid="9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31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822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4" dur="822" fill="hold" decel="60000"/>
                                        <p:tgtEl>
                                          <p:spTgt spid="12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4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604" fill="hold" decel="8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4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604" fill="hold" decel="8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04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604" fill="hold" decel="8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604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604" fill="hold" decel="8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57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35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635" fill="hold" decel="8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61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35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635" fill="hold" decel="8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635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635" fill="hold" decel="8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35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635" fill="hold" decel="8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7" grpId="0"/>
      <p:bldP spid="10" grpId="0"/>
      <p:bldP spid="13" grpId="0"/>
      <p:bldP spid="5" grpId="0"/>
      <p:bldP spid="8" grpId="0"/>
      <p:bldP spid="11" grpId="0"/>
      <p:bldP spid="1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173736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1D1D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¥</a:t>
            </a:r>
            <a:pPr algn="ctr" indent="0" marL="0">
              <a:buNone/>
            </a:pPr>
            <a:r>
              <a:rPr lang="en-US" sz="9600" b="1" dirty="0">
                <a:solidFill>
                  <a:srgbClr val="1D1D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2,399</a:t>
            </a:r>
            <a:endParaRPr lang="en-US" sz="5800" dirty="0"/>
          </a:p>
        </p:txBody>
      </p:sp>
      <p:sp>
        <p:nvSpPr>
          <p:cNvPr id="3" name="Text 1"/>
          <p:cNvSpPr/>
          <p:nvPr/>
        </p:nvSpPr>
        <p:spPr>
          <a:xfrm>
            <a:off x="0" y="365760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InkPod 全系列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527048" y="43434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标配手写笔，早鸟立减 400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527048" y="5943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* 2026.10.27 上午 9 点全渠道开售</a:t>
            </a:r>
            <a:endParaRPr lang="en-US" sz="1300" dirty="0"/>
          </a:p>
        </p:txBody>
      </p:sp>
    </p:spTree>
  </p:cSld>
  <p:clrMapOvr>
    <a:masterClrMapping/>
  </p:clrMapOvr>
  <p:transition xmlns:p14="http://schemas.microsoft.com/office/powerpoint/2010/main" spd="slow" p14:dur="7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6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" dur="760" fill="hold" decel="60000"/>
                                        <p:tgtEl>
                                          <p:spTgt spid="2"/>
                                        </p:tgtEl>
                                      </p:cBhvr>
                                      <p:from x="104000" y="10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9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14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14" fill="hold" decel="8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14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614" fill="hold" decel="8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7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94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94" fill="hold" decel="8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d:e4"/>
          <p:cNvSpPr/>
          <p:nvPr/>
        </p:nvSpPr>
        <p:spPr>
          <a:xfrm>
            <a:off x="612648" y="246888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gradFill>
                  <a:gsLst>
                    <a:gs pos="0">
                      <a:srgbClr val="8B5CF6"/>
                    </a:gs>
                    <a:gs pos="35000">
                      <a:srgbClr val="4F8DEB"/>
                    </a:gs>
                    <a:gs pos="70000">
                      <a:srgbClr val="46C7C7"/>
                    </a:gs>
                    <a:gs pos="100000">
                      <a:srgbClr val="58C878"/>
                    </a:gs>
                  </a:gsLst>
                  <a:lin ang="0" scaled="1"/>
                </a:gra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纸，学会了思考。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1527048" y="39776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InkPod 10.27 开售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0" y="598932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InkPod Special Event · 2026.10</a:t>
            </a:r>
            <a:endParaRPr lang="en-US" sz="1400" dirty="0"/>
          </a:p>
        </p:txBody>
      </p:sp>
    </p:spTree>
  </p:cSld>
  <p:clrMapOvr>
    <a:masterClrMapping/>
  </p:clrMapOvr>
  <p:transition xmlns:p14="http://schemas.microsoft.com/office/powerpoint/2010/main" spd="slow" p14:dur="7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8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708" fill="hold" decel="80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9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14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14" fill="hold" decel="8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94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94" fill="hold" decel="8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InkPod 发布会（浅色官网风示例）</dc:title>
  <dc:subject>InkPod 发布会（浅色官网风示例）</dc:subject>
  <dc:creator>apple-keynote-ppt</dc:creator>
  <cp:lastModifiedBy>apple-keynote-ppt</cp:lastModifiedBy>
  <cp:revision>1</cp:revision>
  <dcterms:created xsi:type="dcterms:W3CDTF">2026-09-12T21:13:29Z</dcterms:created>
  <dcterms:modified xsi:type="dcterms:W3CDTF">2026-09-12T21:13:29Z</dcterms:modified>
</cp:coreProperties>
</file>